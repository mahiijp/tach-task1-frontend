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ADD88-FB6F-4B5C-8302-D2D5275ADA6E}" v="30" dt="2025-10-28T04:57:21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5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19C84-B8FA-4B3F-8936-B8DF67C65E7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97243-C547-4D01-8133-7EDB2FCB6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79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7243-C547-4D01-8133-7EDB2FCB694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103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432000" lvl="1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level</a:t>
            </a:r>
          </a:p>
          <a:p>
            <a:pPr marL="432000" lvl="2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level</a:t>
            </a:r>
          </a:p>
          <a:p>
            <a:pPr marL="432000" lvl="3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level</a:t>
            </a:r>
          </a:p>
          <a:p>
            <a:pPr marL="432000" lvl="4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555560"/>
            <a:ext cx="657576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6000" b="1" u="none" strike="noStrike">
                <a:solidFill>
                  <a:schemeClr val="accent1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3"/>
          <p:cNvSpPr/>
          <p:nvPr/>
        </p:nvSpPr>
        <p:spPr>
          <a:xfrm>
            <a:off x="228600" y="136080"/>
            <a:ext cx="3499920" cy="4871520"/>
          </a:xfrm>
          <a:prstGeom prst="roundRect">
            <a:avLst>
              <a:gd name="adj" fmla="val 8403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48;p13"/>
          <p:cNvSpPr/>
          <p:nvPr/>
        </p:nvSpPr>
        <p:spPr>
          <a:xfrm>
            <a:off x="383400" y="379080"/>
            <a:ext cx="3191760" cy="2714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979440" y="228600"/>
            <a:ext cx="4444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28600" y="9208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28600" y="14277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228600" y="19346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228600" y="244152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228600" y="294840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228600" y="34552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228600" y="39621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228600" y="44690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74;p13"/>
          <p:cNvSpPr/>
          <p:nvPr/>
        </p:nvSpPr>
        <p:spPr>
          <a:xfrm>
            <a:off x="3805200" y="136080"/>
            <a:ext cx="5202360" cy="4871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6;p14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4561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432000" lvl="1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level</a:t>
            </a:r>
          </a:p>
          <a:p>
            <a:pPr marL="432000" lvl="2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level</a:t>
            </a:r>
          </a:p>
          <a:p>
            <a:pPr marL="432000" lvl="3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level</a:t>
            </a:r>
          </a:p>
          <a:p>
            <a:pPr marL="432000" lvl="4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0;p1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89;p16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47920" y="830160"/>
            <a:ext cx="44478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06;p17"/>
          <p:cNvSpPr/>
          <p:nvPr/>
        </p:nvSpPr>
        <p:spPr>
          <a:xfrm>
            <a:off x="435600" y="3666960"/>
            <a:ext cx="8272440" cy="1044360"/>
          </a:xfrm>
          <a:prstGeom prst="roundRect">
            <a:avLst>
              <a:gd name="adj" fmla="val 17679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107;p17"/>
          <p:cNvSpPr/>
          <p:nvPr/>
        </p:nvSpPr>
        <p:spPr>
          <a:xfrm>
            <a:off x="2099160" y="371016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Funnel Sans"/>
                <a:ea typeface="Funnel Sans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108;p17"/>
          <p:cNvSpPr/>
          <p:nvPr/>
        </p:nvSpPr>
        <p:spPr>
          <a:xfrm>
            <a:off x="435600" y="557640"/>
            <a:ext cx="8272440" cy="2968920"/>
          </a:xfrm>
          <a:prstGeom prst="roundRect">
            <a:avLst>
              <a:gd name="adj" fmla="val 7654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10;p18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12;p19"/>
          <p:cNvSpPr/>
          <p:nvPr/>
        </p:nvSpPr>
        <p:spPr>
          <a:xfrm rot="5400000">
            <a:off x="4471200" y="532800"/>
            <a:ext cx="201600" cy="86281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9080" y="1719360"/>
            <a:ext cx="6339960" cy="212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69080" y="487080"/>
            <a:ext cx="11822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6000" b="1" u="none" strike="noStrike">
                <a:solidFill>
                  <a:schemeClr val="accent2"/>
                </a:solidFill>
                <a:effectLst/>
                <a:uFillTx/>
                <a:latin typeface="Manrope"/>
              </a:rPr>
              <a:t>Click to edit Master title style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lvl="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432000" lvl="1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level</a:t>
            </a:r>
          </a:p>
          <a:p>
            <a:pPr marL="432000" lvl="2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level</a:t>
            </a:r>
          </a:p>
          <a:p>
            <a:pPr marL="432000" lvl="3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level</a:t>
            </a:r>
          </a:p>
          <a:p>
            <a:pPr marL="432000" lvl="4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9;p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25;p5"/>
          <p:cNvSpPr/>
          <p:nvPr/>
        </p:nvSpPr>
        <p:spPr>
          <a:xfrm rot="5400000">
            <a:off x="4492080" y="429840"/>
            <a:ext cx="222480" cy="89694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28;p6"/>
          <p:cNvSpPr/>
          <p:nvPr/>
        </p:nvSpPr>
        <p:spPr>
          <a:xfrm>
            <a:off x="136080" y="132480"/>
            <a:ext cx="8871840" cy="4952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0;p7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33280" y="1896480"/>
            <a:ext cx="687672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600" y="601920"/>
            <a:ext cx="4728240" cy="140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lvl="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432000" lvl="1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level</a:t>
            </a:r>
          </a:p>
          <a:p>
            <a:pPr marL="432000" lvl="2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level</a:t>
            </a:r>
          </a:p>
          <a:p>
            <a:pPr marL="432000" lvl="3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level</a:t>
            </a:r>
          </a:p>
          <a:p>
            <a:pPr marL="432000" lvl="4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lvl="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432000" lvl="1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level</a:t>
            </a:r>
          </a:p>
          <a:p>
            <a:pPr marL="432000" lvl="2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level</a:t>
            </a:r>
          </a:p>
          <a:p>
            <a:pPr marL="432000" lvl="3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level</a:t>
            </a:r>
          </a:p>
          <a:p>
            <a:pPr marL="432000" lvl="4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390320" y="3955680"/>
            <a:ext cx="636336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8;p22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21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8;p24"/>
          <p:cNvPicPr/>
          <p:nvPr/>
        </p:nvPicPr>
        <p:blipFill>
          <a:blip r:embed="rId2"/>
          <a:srcRect t="13906" r="6550" b="7347"/>
          <a:stretch/>
        </p:blipFill>
        <p:spPr>
          <a:xfrm>
            <a:off x="3416300" y="0"/>
            <a:ext cx="6029928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254724" y="2113680"/>
            <a:ext cx="4495320" cy="14950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FrontEnd</a:t>
            </a:r>
            <a:r>
              <a:rPr lang="en-US" sz="42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Web Development</a:t>
            </a:r>
            <a:endParaRPr lang="fr-FR" sz="4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4D49A-514E-D423-F99F-EC64BFC2AD65}"/>
              </a:ext>
            </a:extLst>
          </p:cNvPr>
          <p:cNvSpPr txBox="1"/>
          <p:nvPr/>
        </p:nvSpPr>
        <p:spPr>
          <a:xfrm>
            <a:off x="0" y="171003"/>
            <a:ext cx="75585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Topics Covered:</a:t>
            </a:r>
          </a:p>
          <a:p>
            <a:pPr>
              <a:buNone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Web Fundamentals → HTML5, CSS3, JavaScript ES6+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React → Components, Hooks, Routing, State Management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Web Components → Shadow DOM, reusable UI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Testing → Jest, React Testing Library, Cypress/Playwright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RESTful APIs → Frontend-Backend Integration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Authentication &amp; Authorization → JWT, OAuth2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Performance Optimization → Lazy Loading, </a:t>
            </a:r>
            <a:r>
              <a:rPr lang="en-IN" dirty="0" err="1"/>
              <a:t>Memoization</a:t>
            </a:r>
            <a:endParaRPr lang="en-IN" dirty="0"/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UML &amp; System </a:t>
            </a:r>
            <a:r>
              <a:rPr lang="en-IN" sz="800" dirty="0"/>
              <a:t>Design</a:t>
            </a:r>
            <a:r>
              <a:rPr lang="en-IN" dirty="0"/>
              <a:t> → Client-Server Architecture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4FC6B9-462F-84D9-58CA-4CEF7DC58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0" y="2861220"/>
            <a:ext cx="4493520" cy="1495800"/>
          </a:xfrm>
        </p:spPr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9302A-3F20-4779-F7AF-E2FFF8A7CA16}"/>
              </a:ext>
            </a:extLst>
          </p:cNvPr>
          <p:cNvSpPr txBox="1"/>
          <p:nvPr/>
        </p:nvSpPr>
        <p:spPr>
          <a:xfrm>
            <a:off x="6445250" y="4503821"/>
            <a:ext cx="5397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highlight>
                  <a:srgbClr val="000000"/>
                </a:highlight>
              </a:rPr>
              <a:t>Presentation By Magesh J </a:t>
            </a:r>
          </a:p>
          <a:p>
            <a:pPr>
              <a:buNone/>
            </a:pPr>
            <a:r>
              <a:rPr lang="en-IN" dirty="0">
                <a:highlight>
                  <a:srgbClr val="000000"/>
                </a:highlight>
              </a:rPr>
              <a:t>28/10/2025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20435" y="798172"/>
            <a:ext cx="4723920" cy="89394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/>
              <a:t>Introduction to Frontend Development</a:t>
            </a:r>
            <a:br>
              <a:rPr lang="en-US" sz="2800" b="1" dirty="0"/>
            </a:b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220435" y="1422400"/>
            <a:ext cx="5304325" cy="33779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/>
          <a:p>
            <a:endParaRPr lang="en-US" sz="1200" b="1" dirty="0"/>
          </a:p>
          <a:p>
            <a:r>
              <a:rPr lang="en-US" sz="1200" dirty="0"/>
              <a:t>“Frontend Development is the art of bringing ideas to life on the web — transforming design and code into beautiful, interactive user experiences.”</a:t>
            </a:r>
          </a:p>
          <a:p>
            <a:endParaRPr lang="en-US" sz="1200" dirty="0"/>
          </a:p>
          <a:p>
            <a:r>
              <a:rPr lang="en-US" sz="1200" dirty="0"/>
              <a:t>🧠 </a:t>
            </a:r>
            <a:r>
              <a:rPr lang="en-US" sz="1200" b="1" dirty="0"/>
              <a:t>What It Is:</a:t>
            </a:r>
          </a:p>
          <a:p>
            <a:br>
              <a:rPr lang="en-US" sz="1200" dirty="0"/>
            </a:br>
            <a:r>
              <a:rPr lang="en-US" sz="1200" dirty="0"/>
              <a:t>Frontend Development focuses on building the </a:t>
            </a:r>
            <a:r>
              <a:rPr lang="en-US" sz="1200" b="1" dirty="0"/>
              <a:t>visible and interactive part</a:t>
            </a:r>
            <a:r>
              <a:rPr lang="en-US" sz="1200" dirty="0"/>
              <a:t> of websites and web apps — everything users </a:t>
            </a:r>
            <a:r>
              <a:rPr lang="en-US" sz="1200" b="1" dirty="0"/>
              <a:t>see, click, and interact with</a:t>
            </a:r>
            <a:r>
              <a:rPr lang="en-US" sz="1200" dirty="0"/>
              <a:t> in their browsers.</a:t>
            </a:r>
          </a:p>
          <a:p>
            <a:endParaRPr lang="en-US" sz="1200" dirty="0"/>
          </a:p>
          <a:p>
            <a:r>
              <a:rPr lang="en-US" sz="1200" dirty="0"/>
              <a:t>💻 </a:t>
            </a:r>
            <a:r>
              <a:rPr lang="en-US" sz="1200" b="1" dirty="0"/>
              <a:t>Core Technologies:</a:t>
            </a:r>
          </a:p>
          <a:p>
            <a:br>
              <a:rPr lang="en-US" sz="1200" dirty="0"/>
            </a:br>
            <a:r>
              <a:rPr lang="en-US" sz="1200" b="1" dirty="0"/>
              <a:t>HTML</a:t>
            </a:r>
            <a:r>
              <a:rPr lang="en-US" sz="1200" dirty="0"/>
              <a:t> – Structure</a:t>
            </a:r>
          </a:p>
          <a:p>
            <a:br>
              <a:rPr lang="en-US" sz="1200" dirty="0"/>
            </a:br>
            <a:r>
              <a:rPr lang="en-US" sz="1200" b="1" dirty="0"/>
              <a:t>CSS</a:t>
            </a:r>
            <a:r>
              <a:rPr lang="en-US" sz="1200" dirty="0"/>
              <a:t> – Style</a:t>
            </a:r>
          </a:p>
          <a:p>
            <a:br>
              <a:rPr lang="en-US" sz="1200" dirty="0"/>
            </a:br>
            <a:r>
              <a:rPr lang="en-US" sz="1200" b="1" dirty="0"/>
              <a:t>JavaScript</a:t>
            </a:r>
            <a:r>
              <a:rPr lang="en-US" sz="1200" dirty="0"/>
              <a:t> – Interactivity</a:t>
            </a:r>
          </a:p>
          <a:p>
            <a:endParaRPr lang="en-US" sz="1200" dirty="0"/>
          </a:p>
          <a:p>
            <a:r>
              <a:rPr lang="en-US" sz="1200" dirty="0"/>
              <a:t>🚀 </a:t>
            </a:r>
            <a:r>
              <a:rPr lang="en-US" sz="1200" b="1" dirty="0"/>
              <a:t>Goal:</a:t>
            </a:r>
          </a:p>
          <a:p>
            <a:br>
              <a:rPr lang="en-US" sz="1200" dirty="0"/>
            </a:br>
            <a:r>
              <a:rPr lang="en-US" sz="1200" dirty="0"/>
              <a:t>To create fast, responsive, and visually appealing web interfaces that deliver an exceptional </a:t>
            </a:r>
            <a:r>
              <a:rPr lang="en-US" sz="1200" b="1" dirty="0"/>
              <a:t>user experience</a:t>
            </a:r>
            <a:r>
              <a:rPr lang="en-US" sz="1200" dirty="0"/>
              <a:t> across all devices.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Google Shape;282;p31"/>
          <p:cNvSpPr/>
          <p:nvPr/>
        </p:nvSpPr>
        <p:spPr>
          <a:xfrm>
            <a:off x="113940" y="82081"/>
            <a:ext cx="5191920" cy="1491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28600" y="-11108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Web Development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Basics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13940" y="1523868"/>
            <a:ext cx="5312340" cy="361945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r>
              <a:rPr lang="en-IN" sz="1800" b="1" dirty="0"/>
              <a:t>Definition:</a:t>
            </a:r>
          </a:p>
          <a:p>
            <a:br>
              <a:rPr lang="en-IN" sz="1800" dirty="0"/>
            </a:br>
            <a:r>
              <a:rPr lang="en-IN" sz="1800" dirty="0"/>
              <a:t>Web fundamentals form the base of frontend development — structure, style, and </a:t>
            </a:r>
            <a:r>
              <a:rPr lang="en-IN" sz="1800" dirty="0" err="1"/>
              <a:t>behavior</a:t>
            </a:r>
            <a:r>
              <a:rPr lang="en-IN" sz="1800" dirty="0"/>
              <a:t>.</a:t>
            </a:r>
          </a:p>
          <a:p>
            <a:br>
              <a:rPr lang="en-IN" sz="1800" dirty="0"/>
            </a:br>
            <a:r>
              <a:rPr lang="en-IN" sz="1800" b="1" dirty="0"/>
              <a:t>Core Layers:</a:t>
            </a:r>
          </a:p>
          <a:p>
            <a:endParaRPr lang="en-IN" sz="1800" dirty="0"/>
          </a:p>
          <a:p>
            <a:r>
              <a:rPr lang="en-IN" sz="1800" b="1" dirty="0"/>
              <a:t>HTML5:</a:t>
            </a:r>
            <a:r>
              <a:rPr lang="en-IN" sz="1800" dirty="0"/>
              <a:t> Structure &amp; content</a:t>
            </a:r>
          </a:p>
          <a:p>
            <a:r>
              <a:rPr lang="en-IN" sz="1800" b="1" dirty="0"/>
              <a:t>CSS3:</a:t>
            </a:r>
            <a:r>
              <a:rPr lang="en-IN" sz="1800" dirty="0"/>
              <a:t> Styling &amp; layout</a:t>
            </a:r>
          </a:p>
          <a:p>
            <a:r>
              <a:rPr lang="en-IN" sz="1800" b="1" dirty="0"/>
              <a:t>JavaScript (ES6+):</a:t>
            </a:r>
            <a:r>
              <a:rPr lang="en-IN" sz="1800" dirty="0"/>
              <a:t> Interactivity &amp; logic</a:t>
            </a:r>
          </a:p>
          <a:p>
            <a:br>
              <a:rPr lang="en-IN" sz="1800" dirty="0"/>
            </a:br>
            <a:r>
              <a:rPr lang="en-IN" sz="1800" b="1" dirty="0"/>
              <a:t>Goal:</a:t>
            </a:r>
            <a:r>
              <a:rPr lang="en-IN" sz="1800" dirty="0"/>
              <a:t> Create responsive, accessible, and dynamic web interfaces.</a:t>
            </a:r>
          </a:p>
          <a:p>
            <a:pPr indent="0" algn="ctr">
              <a:buNone/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Funnel Sans"/>
              <a:ea typeface="Funne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19280" y="3683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dirty="0">
                <a:solidFill>
                  <a:schemeClr val="dk1"/>
                </a:solidFill>
                <a:latin typeface="Manrope"/>
              </a:rPr>
              <a:t>HTML 5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57BCB-95E8-B59B-D727-568DBDB3C0A2}"/>
              </a:ext>
            </a:extLst>
          </p:cNvPr>
          <p:cNvSpPr txBox="1"/>
          <p:nvPr/>
        </p:nvSpPr>
        <p:spPr>
          <a:xfrm>
            <a:off x="165100" y="1297791"/>
            <a:ext cx="86233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Features:</a:t>
            </a:r>
          </a:p>
          <a:p>
            <a:pPr>
              <a:buNone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Semantic elements: </a:t>
            </a:r>
            <a:r>
              <a:rPr lang="en-IN" sz="2000" dirty="0">
                <a:latin typeface="Courier New" panose="02070309020205020404" pitchFamily="49" charset="0"/>
              </a:rPr>
              <a:t>&lt;header&gt;</a:t>
            </a:r>
            <a:r>
              <a:rPr lang="en-IN" sz="2000" dirty="0"/>
              <a:t>, </a:t>
            </a:r>
            <a:r>
              <a:rPr lang="en-IN" sz="2000" dirty="0">
                <a:latin typeface="Courier New" panose="02070309020205020404" pitchFamily="49" charset="0"/>
              </a:rPr>
              <a:t>&lt;section&gt;</a:t>
            </a:r>
            <a:r>
              <a:rPr lang="en-IN" sz="2000" dirty="0"/>
              <a:t>, </a:t>
            </a:r>
            <a:r>
              <a:rPr lang="en-IN" sz="2000" dirty="0">
                <a:latin typeface="Courier New" panose="02070309020205020404" pitchFamily="49" charset="0"/>
              </a:rPr>
              <a:t>&lt;footer&gt;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Multimedia: </a:t>
            </a:r>
            <a:r>
              <a:rPr lang="en-IN" sz="2000" dirty="0">
                <a:latin typeface="Courier New" panose="02070309020205020404" pitchFamily="49" charset="0"/>
              </a:rPr>
              <a:t>&lt;video&gt;</a:t>
            </a:r>
            <a:r>
              <a:rPr lang="en-IN" sz="2000" dirty="0"/>
              <a:t>, </a:t>
            </a:r>
            <a:r>
              <a:rPr lang="en-IN" sz="2000" dirty="0">
                <a:latin typeface="Courier New" panose="02070309020205020404" pitchFamily="49" charset="0"/>
              </a:rPr>
              <a:t>&lt;audio&gt;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Form enhancements: </a:t>
            </a:r>
            <a:r>
              <a:rPr lang="en-IN" sz="2000" dirty="0">
                <a:latin typeface="Courier New" panose="02070309020205020404" pitchFamily="49" charset="0"/>
              </a:rPr>
              <a:t>&lt;input type="email"&gt;</a:t>
            </a:r>
            <a:r>
              <a:rPr lang="en-IN" sz="2000" dirty="0"/>
              <a:t>, </a:t>
            </a:r>
            <a:r>
              <a:rPr lang="en-IN" sz="2000" dirty="0">
                <a:latin typeface="Courier New" panose="02070309020205020404" pitchFamily="49" charset="0"/>
              </a:rPr>
              <a:t>&lt;</a:t>
            </a:r>
            <a:r>
              <a:rPr lang="en-IN" sz="2000" dirty="0" err="1">
                <a:latin typeface="Courier New" panose="02070309020205020404" pitchFamily="49" charset="0"/>
              </a:rPr>
              <a:t>datalist</a:t>
            </a:r>
            <a:r>
              <a:rPr lang="en-IN" sz="2000" dirty="0">
                <a:latin typeface="Courier New" panose="02070309020205020404" pitchFamily="49" charset="0"/>
              </a:rPr>
              <a:t>&gt;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Offline support: </a:t>
            </a:r>
            <a:r>
              <a:rPr lang="en-IN" sz="2000" dirty="0" err="1"/>
              <a:t>LocalStorage</a:t>
            </a:r>
            <a:r>
              <a:rPr lang="en-IN" sz="2000" dirty="0"/>
              <a:t>, Web Storage</a:t>
            </a:r>
          </a:p>
          <a:p>
            <a:pPr>
              <a:buFont typeface="Arial" panose="020B0604020202020204" pitchFamily="34" charset="0"/>
              <a:buChar char="•"/>
            </a:pPr>
            <a:br>
              <a:rPr lang="en-IN" dirty="0"/>
            </a:br>
            <a:r>
              <a:rPr lang="en-IN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&lt;article&gt;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&lt;h2&gt;Modern HTML5&lt;/h2&gt;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&lt;p&gt;HTML5 makes web structure semantic and accessible.&lt;/p&gt;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&lt;/article&gt;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69240" y="154010"/>
            <a:ext cx="4723920" cy="7841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/>
              <a:t>CSS3 (Flexbox &amp; Grid)</a:t>
            </a:r>
            <a:br>
              <a:rPr lang="en-US" sz="2800" b="1" dirty="0"/>
            </a:b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203200" y="444500"/>
            <a:ext cx="4723920" cy="2857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Purpose:</a:t>
            </a:r>
            <a:r>
              <a:rPr lang="en-US" sz="1600" dirty="0"/>
              <a:t> Defines layout and responsive design.</a:t>
            </a:r>
          </a:p>
          <a:p>
            <a:br>
              <a:rPr lang="en-US" sz="1600" dirty="0"/>
            </a:br>
            <a:r>
              <a:rPr lang="en-US" sz="1600" b="1" dirty="0"/>
              <a:t>Flexbox:</a:t>
            </a:r>
          </a:p>
          <a:p>
            <a:endParaRPr lang="en-US" sz="1600" dirty="0"/>
          </a:p>
          <a:p>
            <a:r>
              <a:rPr lang="en-US" sz="1600" dirty="0"/>
              <a:t>1D layout for aligning items horizontally or vertically.</a:t>
            </a:r>
          </a:p>
          <a:p>
            <a:br>
              <a:rPr lang="en-US" sz="1600" dirty="0"/>
            </a:br>
            <a:r>
              <a:rPr lang="en-US" sz="1600" b="1" dirty="0"/>
              <a:t>Grid:</a:t>
            </a:r>
          </a:p>
          <a:p>
            <a:endParaRPr lang="en-US" sz="1600" dirty="0"/>
          </a:p>
          <a:p>
            <a:r>
              <a:rPr lang="en-US" sz="1600" dirty="0"/>
              <a:t>2D layout for complex page structures.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 descr="A diagram of a grid and a grid&#10;&#10;AI-generated content may be incorrect.">
            <a:extLst>
              <a:ext uri="{FF2B5EF4-FFF2-40B4-BE49-F238E27FC236}">
                <a16:creationId xmlns:a16="http://schemas.microsoft.com/office/drawing/2014/main" id="{9F53E765-3915-7F6E-7C98-1B30FFDCAF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560" y="3176304"/>
            <a:ext cx="3484440" cy="1967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2800" dirty="0"/>
              <a:t>JavaScript ES6+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1447800" y="1930400"/>
            <a:ext cx="5600700" cy="3378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en-IN" sz="2000" b="1" dirty="0"/>
              <a:t>New ES6 Features:</a:t>
            </a:r>
          </a:p>
          <a:p>
            <a:endParaRPr lang="en-IN" sz="2000" dirty="0"/>
          </a:p>
          <a:p>
            <a:r>
              <a:rPr lang="en-IN" sz="2000" dirty="0"/>
              <a:t>let / </a:t>
            </a:r>
            <a:r>
              <a:rPr lang="en-IN" sz="2000" dirty="0" err="1"/>
              <a:t>const</a:t>
            </a:r>
            <a:r>
              <a:rPr lang="en-IN" sz="2000" dirty="0"/>
              <a:t>: Safer variable declarations.</a:t>
            </a:r>
          </a:p>
          <a:p>
            <a:endParaRPr lang="en-IN" sz="2000" dirty="0"/>
          </a:p>
          <a:p>
            <a:r>
              <a:rPr lang="en-IN" sz="2000" dirty="0"/>
              <a:t>Arrow functions: </a:t>
            </a:r>
            <a:r>
              <a:rPr lang="en-IN" sz="2000" dirty="0" err="1"/>
              <a:t>const</a:t>
            </a:r>
            <a:r>
              <a:rPr lang="en-IN" sz="2000" dirty="0"/>
              <a:t> add = (</a:t>
            </a:r>
            <a:r>
              <a:rPr lang="en-IN" sz="2000" dirty="0" err="1"/>
              <a:t>a,b</a:t>
            </a:r>
            <a:r>
              <a:rPr lang="en-IN" sz="2000" dirty="0"/>
              <a:t>) =&gt; </a:t>
            </a:r>
            <a:r>
              <a:rPr lang="en-IN" sz="2000" dirty="0" err="1"/>
              <a:t>a+b</a:t>
            </a:r>
            <a:r>
              <a:rPr lang="en-IN" sz="2000" dirty="0"/>
              <a:t>;</a:t>
            </a:r>
          </a:p>
          <a:p>
            <a:endParaRPr lang="en-IN" sz="2000" dirty="0"/>
          </a:p>
          <a:p>
            <a:r>
              <a:rPr lang="en-IN" sz="2000" dirty="0"/>
              <a:t>Template literals: `Hello ${user}`</a:t>
            </a:r>
          </a:p>
          <a:p>
            <a:endParaRPr lang="en-IN" sz="2000" dirty="0"/>
          </a:p>
          <a:p>
            <a:r>
              <a:rPr lang="en-IN" sz="2000" dirty="0" err="1"/>
              <a:t>Destructuring</a:t>
            </a:r>
            <a:r>
              <a:rPr lang="en-IN" sz="2000" dirty="0"/>
              <a:t>: </a:t>
            </a:r>
            <a:r>
              <a:rPr lang="en-IN" sz="2000" dirty="0" err="1"/>
              <a:t>const</a:t>
            </a:r>
            <a:r>
              <a:rPr lang="en-IN" sz="2000" dirty="0"/>
              <a:t> {name, age} = user;</a:t>
            </a:r>
          </a:p>
          <a:p>
            <a:r>
              <a:rPr lang="en-IN" sz="2000" dirty="0"/>
              <a:t>Modules: import / export for reusability.</a:t>
            </a:r>
          </a:p>
          <a:p>
            <a:r>
              <a:rPr lang="en-IN" sz="2000" dirty="0"/>
              <a:t>Promises &amp; async/await for async tasks.</a:t>
            </a:r>
          </a:p>
          <a:p>
            <a:endParaRPr lang="en-I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FCF16-D057-2C7B-DC96-7FCBF234A87D}"/>
              </a:ext>
            </a:extLst>
          </p:cNvPr>
          <p:cNvSpPr txBox="1"/>
          <p:nvPr/>
        </p:nvSpPr>
        <p:spPr>
          <a:xfrm>
            <a:off x="368300" y="1436469"/>
            <a:ext cx="6419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Purpose:</a:t>
            </a:r>
            <a:r>
              <a:rPr lang="en-US" dirty="0"/>
              <a:t> Adds logic and interactivity to web pages.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42900" y="393414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r>
              <a:rPr lang="en-IN" sz="2800" b="1" dirty="0"/>
              <a:t>         React Basics</a:t>
            </a:r>
            <a:br>
              <a:rPr lang="en-IN" sz="2800" b="1" dirty="0"/>
            </a:br>
            <a:br>
              <a:rPr lang="en-IN" sz="2800" b="1" dirty="0"/>
            </a:br>
            <a:r>
              <a:rPr lang="en-IN" sz="2800" b="1" dirty="0"/>
              <a:t>React.js:</a:t>
            </a:r>
            <a:r>
              <a:rPr lang="en-IN" sz="2800" dirty="0"/>
              <a:t> A library for building component-based UIs.</a:t>
            </a:r>
            <a:br>
              <a:rPr lang="en-IN" sz="2800" dirty="0"/>
            </a:br>
            <a:br>
              <a:rPr lang="en-IN" sz="2800" dirty="0"/>
            </a:br>
            <a:r>
              <a:rPr lang="en-IN" sz="2800" b="1" dirty="0"/>
              <a:t>Core Concepts:</a:t>
            </a:r>
            <a:br>
              <a:rPr lang="en-IN" sz="2800" b="1" dirty="0"/>
            </a:br>
            <a:br>
              <a:rPr lang="en-IN" sz="2800" dirty="0"/>
            </a:br>
            <a:r>
              <a:rPr lang="en-IN" sz="2800" b="1" dirty="0"/>
              <a:t>Components:</a:t>
            </a:r>
            <a:r>
              <a:rPr lang="en-IN" sz="2800" dirty="0"/>
              <a:t> Reusable, independent UI blocks.</a:t>
            </a:r>
            <a:br>
              <a:rPr lang="en-IN" sz="2800" dirty="0"/>
            </a:br>
            <a:br>
              <a:rPr lang="en-IN" sz="2800" dirty="0"/>
            </a:br>
            <a:r>
              <a:rPr lang="en-IN" sz="2800" b="1" dirty="0"/>
              <a:t>JSX:</a:t>
            </a:r>
            <a:r>
              <a:rPr lang="en-IN" sz="2800" dirty="0"/>
              <a:t> Combines HTML and JS.</a:t>
            </a:r>
            <a:br>
              <a:rPr lang="en-IN" sz="2800" dirty="0"/>
            </a:br>
            <a:br>
              <a:rPr lang="en-IN" sz="2800" dirty="0"/>
            </a:br>
            <a:r>
              <a:rPr lang="en-IN" sz="2800" b="1" dirty="0"/>
              <a:t>Virtual DOM:</a:t>
            </a:r>
            <a:r>
              <a:rPr lang="en-IN" sz="2800" dirty="0"/>
              <a:t> Improves rendering performance.</a:t>
            </a:r>
            <a:br>
              <a:rPr lang="en-IN" sz="2800" dirty="0"/>
            </a:b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/>
              <a:t>React Hooks &amp; State Management</a:t>
            </a:r>
            <a:br>
              <a:rPr lang="en-US" sz="2800" b="1" dirty="0"/>
            </a:b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C8D93-46F2-89CD-112B-02A956F4EB86}"/>
              </a:ext>
            </a:extLst>
          </p:cNvPr>
          <p:cNvSpPr txBox="1"/>
          <p:nvPr/>
        </p:nvSpPr>
        <p:spPr>
          <a:xfrm>
            <a:off x="228600" y="1556088"/>
            <a:ext cx="7937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Hooks</a:t>
            </a:r>
            <a:r>
              <a:rPr lang="en-US" dirty="0"/>
              <a:t> are built-in functions to manage logic inside functional components.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Common Hooks:\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— for dynamic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useEffect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— for lifecycle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useContext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— for shared global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4AFDC-6588-8EF8-BEA1-E8B5F85D750F}"/>
              </a:ext>
            </a:extLst>
          </p:cNvPr>
          <p:cNvSpPr txBox="1"/>
          <p:nvPr/>
        </p:nvSpPr>
        <p:spPr>
          <a:xfrm>
            <a:off x="0" y="3666172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State Management Tools: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Context API:</a:t>
            </a:r>
            <a:r>
              <a:rPr lang="en-US" dirty="0"/>
              <a:t> For small apps.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Redux / </a:t>
            </a:r>
            <a:r>
              <a:rPr lang="en-US" b="1" dirty="0" err="1"/>
              <a:t>Zustand</a:t>
            </a:r>
            <a:r>
              <a:rPr lang="en-US" b="1" dirty="0"/>
              <a:t>:</a:t>
            </a:r>
            <a:r>
              <a:rPr lang="en-US" dirty="0"/>
              <a:t> For large-scale data sharing.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2800" b="1" dirty="0"/>
              <a:t>Routing in React</a:t>
            </a:r>
            <a:br>
              <a:rPr lang="en-IN" sz="2800" b="1" dirty="0"/>
            </a:b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15D1C-7786-57D3-E4F5-3B45BE8122BC}"/>
              </a:ext>
            </a:extLst>
          </p:cNvPr>
          <p:cNvSpPr txBox="1"/>
          <p:nvPr/>
        </p:nvSpPr>
        <p:spPr>
          <a:xfrm>
            <a:off x="5760" y="1641692"/>
            <a:ext cx="84236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Purpose:</a:t>
            </a:r>
            <a:r>
              <a:rPr lang="en-IN" sz="2000" dirty="0"/>
              <a:t> Handle page navigation in single-page apps.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React Router Concepts:</a:t>
            </a:r>
          </a:p>
          <a:p>
            <a:pPr>
              <a:buNone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</a:rPr>
              <a:t>&lt;</a:t>
            </a:r>
            <a:r>
              <a:rPr lang="en-IN" sz="2000" dirty="0" err="1">
                <a:latin typeface="Courier New" panose="02070309020205020404" pitchFamily="49" charset="0"/>
              </a:rPr>
              <a:t>BrowserRouter</a:t>
            </a:r>
            <a:r>
              <a:rPr lang="en-IN" sz="2000" dirty="0">
                <a:latin typeface="Courier New" panose="02070309020205020404" pitchFamily="49" charset="0"/>
              </a:rPr>
              <a:t>&gt;</a:t>
            </a:r>
            <a:r>
              <a:rPr lang="en-IN" sz="2000" dirty="0"/>
              <a:t> — wrapper for routes.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</a:rPr>
              <a:t>&lt;Routes&gt;</a:t>
            </a:r>
            <a:r>
              <a:rPr lang="en-IN" sz="2000" dirty="0"/>
              <a:t> — define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</a:rPr>
              <a:t>&lt;Link&gt;</a:t>
            </a:r>
            <a:r>
              <a:rPr lang="en-IN" sz="2000" dirty="0"/>
              <a:t> — navigate without refresh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E197E-5CEA-E660-6181-C83635298436}"/>
              </a:ext>
            </a:extLst>
          </p:cNvPr>
          <p:cNvSpPr txBox="1"/>
          <p:nvPr/>
        </p:nvSpPr>
        <p:spPr>
          <a:xfrm>
            <a:off x="0" y="4501634"/>
            <a:ext cx="605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 Case:</a:t>
            </a:r>
            <a:r>
              <a:rPr lang="en-US" dirty="0"/>
              <a:t> Build SPAs like dashboards or portfolios.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-228120"/>
            <a:ext cx="4723920" cy="961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800" dirty="0"/>
              <a:t>Web Components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203200" y="1295460"/>
            <a:ext cx="4584700" cy="31749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/>
          <a:p>
            <a:r>
              <a:rPr lang="en-IN" sz="2000" b="1" dirty="0"/>
              <a:t>Definition:</a:t>
            </a:r>
            <a:r>
              <a:rPr lang="en-IN" sz="2000" dirty="0"/>
              <a:t> Native browser technology for creating reusable UI elements.</a:t>
            </a:r>
          </a:p>
          <a:p>
            <a:endParaRPr lang="en-IN" sz="2000" dirty="0"/>
          </a:p>
          <a:p>
            <a:r>
              <a:rPr lang="en-IN" sz="2000" b="1" dirty="0"/>
              <a:t>Core Concepts:</a:t>
            </a:r>
          </a:p>
          <a:p>
            <a:endParaRPr lang="en-IN" sz="2000" dirty="0"/>
          </a:p>
          <a:p>
            <a:r>
              <a:rPr lang="en-IN" sz="2000" b="1" dirty="0"/>
              <a:t>Custom Elements:</a:t>
            </a:r>
            <a:r>
              <a:rPr lang="en-IN" sz="2000" dirty="0"/>
              <a:t> Define your own HTML tags.</a:t>
            </a:r>
          </a:p>
          <a:p>
            <a:endParaRPr lang="en-IN" sz="2000" dirty="0"/>
          </a:p>
          <a:p>
            <a:r>
              <a:rPr lang="en-IN" sz="2000" b="1" dirty="0"/>
              <a:t>Shadow DOM:</a:t>
            </a:r>
            <a:r>
              <a:rPr lang="en-IN" sz="2000" dirty="0"/>
              <a:t> Encapsulates styles and logic.</a:t>
            </a:r>
          </a:p>
          <a:p>
            <a:endParaRPr lang="en-IN" sz="2000" dirty="0"/>
          </a:p>
          <a:p>
            <a:r>
              <a:rPr lang="en-IN" sz="2000" b="1" dirty="0"/>
              <a:t>Templates:</a:t>
            </a:r>
            <a:r>
              <a:rPr lang="en-IN" sz="2000" dirty="0"/>
              <a:t> Define reusable layouts.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ABC94-211B-884C-DF93-4987491A08AA}"/>
              </a:ext>
            </a:extLst>
          </p:cNvPr>
          <p:cNvSpPr txBox="1"/>
          <p:nvPr/>
        </p:nvSpPr>
        <p:spPr>
          <a:xfrm>
            <a:off x="203200" y="449716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Benefit:</a:t>
            </a:r>
            <a:r>
              <a:rPr lang="en-US" dirty="0"/>
              <a:t> Works with any framework or vanilla JS.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0" y="-263480"/>
            <a:ext cx="636270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/>
              <a:t>Testing Tools</a:t>
            </a:r>
            <a:br>
              <a:rPr lang="en-US" sz="2800" b="1" dirty="0"/>
            </a:b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228600" y="812800"/>
            <a:ext cx="4940300" cy="433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r>
              <a:rPr lang="en-US" sz="2000" b="1" dirty="0"/>
              <a:t>Why Testing?</a:t>
            </a:r>
          </a:p>
          <a:p>
            <a:br>
              <a:rPr lang="en-US" sz="2000" dirty="0"/>
            </a:br>
            <a:r>
              <a:rPr lang="en-US" sz="2000" dirty="0"/>
              <a:t>To ensure UI components behave correctly and prevent bugs.</a:t>
            </a:r>
          </a:p>
          <a:p>
            <a:endParaRPr lang="en-US" sz="2000" dirty="0"/>
          </a:p>
          <a:p>
            <a:r>
              <a:rPr lang="en-US" sz="2000" b="1" dirty="0"/>
              <a:t>Tools:</a:t>
            </a:r>
          </a:p>
          <a:p>
            <a:endParaRPr lang="en-US" sz="2000" dirty="0"/>
          </a:p>
          <a:p>
            <a:r>
              <a:rPr lang="en-US" sz="2000" b="1" dirty="0"/>
              <a:t>Jest:</a:t>
            </a:r>
            <a:r>
              <a:rPr lang="en-US" sz="2000" dirty="0"/>
              <a:t> Unit testing framework.</a:t>
            </a:r>
          </a:p>
          <a:p>
            <a:endParaRPr lang="en-US" sz="2000" dirty="0"/>
          </a:p>
          <a:p>
            <a:r>
              <a:rPr lang="en-US" sz="2000" b="1" dirty="0"/>
              <a:t>React Testing Library:</a:t>
            </a:r>
            <a:r>
              <a:rPr lang="en-US" sz="2000" dirty="0"/>
              <a:t> Tests component rendering.</a:t>
            </a:r>
          </a:p>
          <a:p>
            <a:endParaRPr lang="en-US" sz="2000" dirty="0"/>
          </a:p>
          <a:p>
            <a:r>
              <a:rPr lang="en-US" sz="2000" b="1" dirty="0"/>
              <a:t>Cypress/Playwright:</a:t>
            </a:r>
            <a:r>
              <a:rPr lang="en-US" sz="2000" dirty="0"/>
              <a:t> Automated end-to-end testing.</a:t>
            </a: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0B9FC-8068-9945-1B81-747C836669C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1092200"/>
            <a:ext cx="5949950" cy="4051300"/>
          </a:xfrm>
        </p:spPr>
        <p:txBody>
          <a:bodyPr>
            <a:normAutofit lnSpcReduction="10000"/>
          </a:bodyPr>
          <a:lstStyle/>
          <a:p>
            <a:r>
              <a:rPr lang="en-IN" sz="2000" b="1" dirty="0"/>
              <a:t>Definition:</a:t>
            </a:r>
            <a:r>
              <a:rPr lang="en-IN" sz="2000" dirty="0"/>
              <a:t> Interface for client-server communication using HTTP methods.</a:t>
            </a:r>
          </a:p>
          <a:p>
            <a:endParaRPr lang="en-IN" sz="2000" dirty="0"/>
          </a:p>
          <a:p>
            <a:r>
              <a:rPr lang="en-IN" sz="2000" b="1" dirty="0"/>
              <a:t>Common Methods:</a:t>
            </a:r>
            <a:endParaRPr lang="en-IN" sz="2000" dirty="0"/>
          </a:p>
          <a:p>
            <a:r>
              <a:rPr lang="en-IN" sz="2000" dirty="0"/>
              <a:t>GET → Fetch data</a:t>
            </a:r>
          </a:p>
          <a:p>
            <a:r>
              <a:rPr lang="en-IN" sz="2000" dirty="0"/>
              <a:t>POST → Create data</a:t>
            </a:r>
          </a:p>
          <a:p>
            <a:r>
              <a:rPr lang="en-IN" sz="2000" dirty="0"/>
              <a:t>PUT → Update data</a:t>
            </a:r>
          </a:p>
          <a:p>
            <a:r>
              <a:rPr lang="en-IN" sz="2000" dirty="0"/>
              <a:t>DELETE → Remove data</a:t>
            </a:r>
          </a:p>
          <a:p>
            <a:endParaRPr lang="en-IN" sz="2000" dirty="0"/>
          </a:p>
          <a:p>
            <a:r>
              <a:rPr lang="en-US" sz="2000" b="1" dirty="0"/>
              <a:t>Use Case:</a:t>
            </a:r>
            <a:r>
              <a:rPr lang="en-US" sz="2000" dirty="0"/>
              <a:t> Connect frontend apps with backend servers or databases.</a:t>
            </a:r>
            <a:endParaRPr lang="en-IN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99760C-697C-D12B-F6EE-35CE9B5F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9950" y="609600"/>
            <a:ext cx="6070600" cy="698500"/>
          </a:xfrm>
        </p:spPr>
        <p:txBody>
          <a:bodyPr/>
          <a:lstStyle/>
          <a:p>
            <a:r>
              <a:rPr lang="en-IN" b="1" dirty="0"/>
              <a:t>RESTful APIs</a:t>
            </a:r>
            <a:br>
              <a:rPr lang="en-IN" b="1" dirty="0"/>
            </a:br>
            <a:endParaRPr lang="en-IN" dirty="0"/>
          </a:p>
        </p:txBody>
      </p:sp>
      <p:pic>
        <p:nvPicPr>
          <p:cNvPr id="7" name="Picture 6" descr="A diagram of a computer server&#10;&#10;AI-generated content may be incorrect.">
            <a:extLst>
              <a:ext uri="{FF2B5EF4-FFF2-40B4-BE49-F238E27FC236}">
                <a16:creationId xmlns:a16="http://schemas.microsoft.com/office/drawing/2014/main" id="{CD40A979-ED39-9424-1D67-74D10D8274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627" y="850900"/>
            <a:ext cx="4084845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49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1709-B87E-5537-27A8-848DF8A76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280;p31">
            <a:extLst>
              <a:ext uri="{FF2B5EF4-FFF2-40B4-BE49-F238E27FC236}">
                <a16:creationId xmlns:a16="http://schemas.microsoft.com/office/drawing/2014/main" id="{A552F1FE-57C8-D224-4201-21A96070C938}"/>
              </a:ext>
            </a:extLst>
          </p:cNvPr>
          <p:cNvPicPr/>
          <p:nvPr/>
        </p:nvPicPr>
        <p:blipFill>
          <a:blip r:embed="rId2"/>
          <a:srcRect l="13798" r="1556"/>
          <a:stretch/>
        </p:blipFill>
        <p:spPr>
          <a:xfrm>
            <a:off x="5659560" y="18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>
            <a:extLst>
              <a:ext uri="{FF2B5EF4-FFF2-40B4-BE49-F238E27FC236}">
                <a16:creationId xmlns:a16="http://schemas.microsoft.com/office/drawing/2014/main" id="{7BC58B94-23F5-9A2B-E6BD-ABD5E27E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6220"/>
            <a:ext cx="6642100" cy="961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800" b="1" dirty="0"/>
              <a:t>Authentication &amp; Authorization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CD12E9-65C5-43C4-3F6C-06AB567E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4069020"/>
            <a:ext cx="4728240" cy="1402920"/>
          </a:xfrm>
        </p:spPr>
        <p:txBody>
          <a:bodyPr/>
          <a:lstStyle/>
          <a:p>
            <a:br>
              <a:rPr lang="en-IN" sz="1800" b="1" dirty="0"/>
            </a:br>
            <a:r>
              <a:rPr lang="en-IN" sz="1800" b="1" dirty="0"/>
              <a:t>Authentication:</a:t>
            </a:r>
            <a:r>
              <a:rPr lang="en-IN" sz="1800" dirty="0"/>
              <a:t> Verifies user identity (Login).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Authorization:</a:t>
            </a:r>
            <a:r>
              <a:rPr lang="en-IN" sz="1800" dirty="0"/>
              <a:t> Grants access based on role.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Techniques:</a:t>
            </a:r>
            <a:br>
              <a:rPr lang="en-IN" sz="1800" b="1" dirty="0"/>
            </a:br>
            <a:br>
              <a:rPr lang="en-IN" sz="1800" dirty="0"/>
            </a:br>
            <a:r>
              <a:rPr lang="en-IN" sz="1800" b="1" dirty="0"/>
              <a:t>JWT (JSON Web Token):</a:t>
            </a:r>
            <a:r>
              <a:rPr lang="en-IN" sz="1800" dirty="0"/>
              <a:t> Token-based authentication.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OAuth2:</a:t>
            </a:r>
            <a:r>
              <a:rPr lang="en-IN" sz="1800" dirty="0"/>
              <a:t> Secure login using Google, GitHub, etc.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Flow:</a:t>
            </a:r>
            <a:br>
              <a:rPr lang="en-IN" sz="1800" dirty="0"/>
            </a:br>
            <a:r>
              <a:rPr lang="en-IN" sz="1800" dirty="0"/>
              <a:t>1️⃣ User logs in →</a:t>
            </a:r>
            <a:br>
              <a:rPr lang="en-IN" sz="1800" dirty="0"/>
            </a:br>
            <a:r>
              <a:rPr lang="en-IN" sz="1800" dirty="0"/>
              <a:t>2️⃣ Server issues token →</a:t>
            </a:r>
            <a:br>
              <a:rPr lang="en-IN" sz="1800" dirty="0"/>
            </a:br>
            <a:r>
              <a:rPr lang="en-IN" sz="1800" dirty="0"/>
              <a:t>3️⃣ Token used in API requests.</a:t>
            </a: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40395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5EEA-D1E6-A8A9-34D9-BA92A8D4E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703520"/>
            <a:ext cx="7200900" cy="706180"/>
          </a:xfrm>
        </p:spPr>
        <p:txBody>
          <a:bodyPr/>
          <a:lstStyle/>
          <a:p>
            <a:r>
              <a:rPr lang="en-IN" b="1" dirty="0"/>
              <a:t>Performance Optimization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4C6FC-8101-4178-806B-E696FCD8565E}"/>
              </a:ext>
            </a:extLst>
          </p:cNvPr>
          <p:cNvSpPr txBox="1"/>
          <p:nvPr/>
        </p:nvSpPr>
        <p:spPr>
          <a:xfrm>
            <a:off x="165100" y="962105"/>
            <a:ext cx="5740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Goal:</a:t>
            </a:r>
            <a:r>
              <a:rPr lang="en-IN" sz="2000" dirty="0"/>
              <a:t> Improve app speed, reduce load time.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Techniques:</a:t>
            </a:r>
          </a:p>
          <a:p>
            <a:pPr>
              <a:buNone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Lazy Loading:</a:t>
            </a:r>
            <a:r>
              <a:rPr lang="en-IN" sz="2000" dirty="0"/>
              <a:t> Load components when needed.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err="1"/>
              <a:t>Memoization</a:t>
            </a:r>
            <a:r>
              <a:rPr lang="en-IN" sz="2000" b="1" dirty="0"/>
              <a:t>:</a:t>
            </a:r>
            <a:r>
              <a:rPr lang="en-IN" sz="2000" dirty="0"/>
              <a:t> Cache expensive computations.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Code Splitting:</a:t>
            </a:r>
            <a:r>
              <a:rPr lang="en-IN" sz="2000" dirty="0"/>
              <a:t> Split code into smaller chunks.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Image Optimization:</a:t>
            </a:r>
            <a:r>
              <a:rPr lang="en-IN" sz="2000" dirty="0"/>
              <a:t> Compress images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74F45-4064-5838-0A1E-6E9B71A5A6CD}"/>
              </a:ext>
            </a:extLst>
          </p:cNvPr>
          <p:cNvSpPr txBox="1"/>
          <p:nvPr/>
        </p:nvSpPr>
        <p:spPr>
          <a:xfrm>
            <a:off x="165100" y="4564409"/>
            <a:ext cx="574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Result:</a:t>
            </a:r>
            <a:r>
              <a:rPr lang="en-US" dirty="0"/>
              <a:t> Faster, smoother, more responsive apps.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949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1BC0-136C-AC24-AB63-C9222FD4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26395"/>
            <a:ext cx="8369300" cy="985580"/>
          </a:xfrm>
        </p:spPr>
        <p:txBody>
          <a:bodyPr/>
          <a:lstStyle/>
          <a:p>
            <a:r>
              <a:rPr lang="en-IN" sz="2800" b="1" dirty="0"/>
              <a:t>UML &amp; System Design Basics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ECC3ED-6A10-466F-5295-8BFD49D976D9}"/>
              </a:ext>
            </a:extLst>
          </p:cNvPr>
          <p:cNvSpPr txBox="1"/>
          <p:nvPr/>
        </p:nvSpPr>
        <p:spPr>
          <a:xfrm>
            <a:off x="114300" y="619185"/>
            <a:ext cx="8763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UML (Unified </a:t>
            </a:r>
            <a:r>
              <a:rPr lang="en-IN" b="1" dirty="0" err="1"/>
              <a:t>Modeling</a:t>
            </a:r>
            <a:r>
              <a:rPr lang="en-IN" b="1" dirty="0"/>
              <a:t> Language):</a:t>
            </a:r>
            <a:r>
              <a:rPr lang="en-IN" dirty="0"/>
              <a:t> Visual diagrams to represent system structure.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Common Diagrams: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Component Diagram:</a:t>
            </a:r>
            <a:r>
              <a:rPr lang="en-IN" dirty="0"/>
              <a:t> Shows component hierarchy.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Sequence Diagram:</a:t>
            </a:r>
            <a:r>
              <a:rPr lang="en-IN" dirty="0"/>
              <a:t> Shows data flow between modules.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System Design: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Client-Server Architecture: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Client → Sends request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Server → Processes and responds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Example:</a:t>
            </a:r>
            <a:r>
              <a:rPr lang="en-IN" dirty="0"/>
              <a:t> React frontend communicating with Node.js backend via REST API.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Benefit:</a:t>
            </a:r>
            <a:r>
              <a:rPr lang="en-IN" dirty="0"/>
              <a:t> Better planning, maintainability, and scalability.</a:t>
            </a:r>
          </a:p>
        </p:txBody>
      </p:sp>
    </p:spTree>
    <p:extLst>
      <p:ext uri="{BB962C8B-B14F-4D97-AF65-F5344CB8AC3E}">
        <p14:creationId xmlns:p14="http://schemas.microsoft.com/office/powerpoint/2010/main" val="3005152370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Architecture by Slidesgo">
  <a:themeElements>
    <a:clrScheme name="Simple Light">
      <a:dk1>
        <a:srgbClr val="FFFFFF"/>
      </a:dk1>
      <a:lt1>
        <a:srgbClr val="0E0E0E"/>
      </a:lt1>
      <a:dk2>
        <a:srgbClr val="FFFFFF"/>
      </a:dk2>
      <a:lt2>
        <a:srgbClr val="222222"/>
      </a:lt2>
      <a:accent1>
        <a:srgbClr val="D9D9D9"/>
      </a:accent1>
      <a:accent2>
        <a:srgbClr val="00FFA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 Dev Fundamentals</Template>
  <TotalTime>80</TotalTime>
  <Words>929</Words>
  <Application>Microsoft Office PowerPoint</Application>
  <PresentationFormat>On-screen Show (16:9)</PresentationFormat>
  <Paragraphs>167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Courier New</vt:lpstr>
      <vt:lpstr>Funnel Sans</vt:lpstr>
      <vt:lpstr>Manrope</vt:lpstr>
      <vt:lpstr>OpenSymbol</vt:lpstr>
      <vt:lpstr>Wingdings</vt:lpstr>
      <vt:lpstr>Computer Architecture by Slidesgo</vt:lpstr>
      <vt:lpstr>Slidesgo Final Pages</vt:lpstr>
      <vt:lpstr>FrontEnd Web Development</vt:lpstr>
      <vt:lpstr>Introduction to Frontend Development </vt:lpstr>
      <vt:lpstr>Web Development  Basics</vt:lpstr>
      <vt:lpstr>HTML 5</vt:lpstr>
      <vt:lpstr>CSS3 (Flexbox &amp; Grid) </vt:lpstr>
      <vt:lpstr>JavaScript ES6+</vt:lpstr>
      <vt:lpstr>         React Basics  React.js: A library for building component-based UIs.  Core Concepts:  Components: Reusable, independent UI blocks.  JSX: Combines HTML and JS.  Virtual DOM: Improves rendering performance. </vt:lpstr>
      <vt:lpstr>React Hooks &amp; State Management </vt:lpstr>
      <vt:lpstr>Routing in React </vt:lpstr>
      <vt:lpstr>Web Components</vt:lpstr>
      <vt:lpstr>Testing Tools </vt:lpstr>
      <vt:lpstr>RESTful APIs </vt:lpstr>
      <vt:lpstr>Authentication &amp; Authorization</vt:lpstr>
      <vt:lpstr>Performance Optimization </vt:lpstr>
      <vt:lpstr>UML &amp; System Design Basics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janakiramanmagesh477@gmail.com</dc:creator>
  <cp:lastModifiedBy>janakiramanmagesh477@gmail.com</cp:lastModifiedBy>
  <cp:revision>1</cp:revision>
  <dcterms:created xsi:type="dcterms:W3CDTF">2025-10-28T03:56:49Z</dcterms:created>
  <dcterms:modified xsi:type="dcterms:W3CDTF">2025-10-28T05:17:00Z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2025-10-26T14:05:39Z</dcterms:created>
  <dc:creator>Unknown Creator</dc:creator>
  <dc:description/>
  <dc:language>en-US</dc:language>
  <cp:lastModifiedBy>Unknown Creator</cp:lastModifiedBy>
  <dcterms:modified xsi:type="dcterms:W3CDTF">2025-10-26T14:05:39Z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